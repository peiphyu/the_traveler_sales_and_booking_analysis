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DBF"/>
    <a:srgbClr val="05BACD"/>
    <a:srgbClr val="048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0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4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5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5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4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1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3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3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2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19F77-D34B-494A-B137-15E786EA465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EF9A9-B20E-4340-BE9C-2DD18F9B1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7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AD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5DA54D-9C1D-469E-A8AD-6B16B1555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4526" y="2645443"/>
            <a:ext cx="5008345" cy="1567113"/>
          </a:xfrm>
        </p:spPr>
        <p:txBody>
          <a:bodyPr>
            <a:normAutofit/>
          </a:bodyPr>
          <a:lstStyle/>
          <a:p>
            <a:r>
              <a:rPr lang="en-US" sz="3600" b="1" dirty="0">
                <a:cs typeface="Times New Roman" panose="02020603050405020304" pitchFamily="18" charset="0"/>
              </a:rPr>
              <a:t>The </a:t>
            </a:r>
            <a:r>
              <a:rPr lang="en-US" sz="3600" b="1" dirty="0" err="1">
                <a:cs typeface="Times New Roman" panose="02020603050405020304" pitchFamily="18" charset="0"/>
              </a:rPr>
              <a:t>Traveller</a:t>
            </a:r>
            <a:endParaRPr lang="en-US" sz="3600" b="1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EA2A-8186-4414-8819-2D67CE49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54" y="1270217"/>
            <a:ext cx="5385134" cy="3429101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63CAC7B-9B25-40BF-95BC-212D0336AAE4}"/>
              </a:ext>
            </a:extLst>
          </p:cNvPr>
          <p:cNvSpPr txBox="1">
            <a:spLocks/>
          </p:cNvSpPr>
          <p:nvPr/>
        </p:nvSpPr>
        <p:spPr>
          <a:xfrm>
            <a:off x="8648300" y="3567865"/>
            <a:ext cx="2475296" cy="503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Times New Roman" panose="02020603050405020304" pitchFamily="18" charset="0"/>
              </a:rPr>
              <a:t>By </a:t>
            </a: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Pan Ei Phyu</a:t>
            </a:r>
          </a:p>
        </p:txBody>
      </p:sp>
    </p:spTree>
    <p:extLst>
      <p:ext uri="{BB962C8B-B14F-4D97-AF65-F5344CB8AC3E}">
        <p14:creationId xmlns:p14="http://schemas.microsoft.com/office/powerpoint/2010/main" val="183087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AD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5DA54D-9C1D-469E-A8AD-6B16B1555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886" y="1455820"/>
            <a:ext cx="11444438" cy="394635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cs typeface="Times New Roman" panose="02020603050405020304" pitchFamily="18" charset="0"/>
              </a:rPr>
              <a:t>Key Findings: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>
                <a:cs typeface="Times New Roman" panose="02020603050405020304" pitchFamily="18" charset="0"/>
              </a:rPr>
              <a:t>Customer Demographics: </a:t>
            </a:r>
            <a:r>
              <a:rPr lang="en-US" sz="1800" b="1" dirty="0">
                <a:cs typeface="Times New Roman" panose="02020603050405020304" pitchFamily="18" charset="0"/>
              </a:rPr>
              <a:t>Male</a:t>
            </a:r>
            <a:r>
              <a:rPr lang="en-US" sz="1800" dirty="0">
                <a:cs typeface="Times New Roman" panose="02020603050405020304" pitchFamily="18" charset="0"/>
              </a:rPr>
              <a:t> customers make more bookings than female customers.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>
                <a:cs typeface="Times New Roman" panose="02020603050405020304" pitchFamily="18" charset="0"/>
              </a:rPr>
              <a:t>Top Performing Markets: </a:t>
            </a:r>
            <a:r>
              <a:rPr lang="en-US" sz="1800" b="1" dirty="0">
                <a:cs typeface="Times New Roman" panose="02020603050405020304" pitchFamily="18" charset="0"/>
              </a:rPr>
              <a:t>Korea</a:t>
            </a:r>
            <a:r>
              <a:rPr lang="en-US" sz="1800" dirty="0">
                <a:cs typeface="Times New Roman" panose="02020603050405020304" pitchFamily="18" charset="0"/>
              </a:rPr>
              <a:t> generates the </a:t>
            </a:r>
            <a:r>
              <a:rPr lang="en-US" sz="1800" b="1" dirty="0">
                <a:cs typeface="Times New Roman" panose="02020603050405020304" pitchFamily="18" charset="0"/>
              </a:rPr>
              <a:t>highest profit</a:t>
            </a:r>
            <a:r>
              <a:rPr lang="en-US" sz="1800" dirty="0">
                <a:cs typeface="Times New Roman" panose="02020603050405020304" pitchFamily="18" charset="0"/>
              </a:rPr>
              <a:t>, followed by Dubai.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>
                <a:cs typeface="Times New Roman" panose="02020603050405020304" pitchFamily="18" charset="0"/>
              </a:rPr>
              <a:t>Revenue Trends: Revenue in </a:t>
            </a:r>
            <a:r>
              <a:rPr lang="en-US" sz="1800" b="1" dirty="0">
                <a:cs typeface="Times New Roman" panose="02020603050405020304" pitchFamily="18" charset="0"/>
              </a:rPr>
              <a:t>Dec 2024 dropped significantly </a:t>
            </a:r>
            <a:r>
              <a:rPr lang="en-US" sz="1800" dirty="0">
                <a:cs typeface="Times New Roman" panose="02020603050405020304" pitchFamily="18" charset="0"/>
              </a:rPr>
              <a:t>compared to Dec 2023.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>
                <a:cs typeface="Times New Roman" panose="02020603050405020304" pitchFamily="18" charset="0"/>
              </a:rPr>
              <a:t>Booking Channel: Overall, </a:t>
            </a:r>
            <a:r>
              <a:rPr lang="en-US" sz="1800" b="1" dirty="0">
                <a:cs typeface="Times New Roman" panose="02020603050405020304" pitchFamily="18" charset="0"/>
              </a:rPr>
              <a:t>Facebook</a:t>
            </a:r>
            <a:r>
              <a:rPr lang="en-US" sz="1800" dirty="0">
                <a:cs typeface="Times New Roman" panose="02020603050405020304" pitchFamily="18" charset="0"/>
              </a:rPr>
              <a:t> is the most popular channel for customer bookings across all destinations.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>
                <a:cs typeface="Times New Roman" panose="02020603050405020304" pitchFamily="18" charset="0"/>
              </a:rPr>
              <a:t>Business vs Leisure: There is </a:t>
            </a:r>
            <a:r>
              <a:rPr lang="en-US" sz="1800" b="1" dirty="0">
                <a:cs typeface="Times New Roman" panose="02020603050405020304" pitchFamily="18" charset="0"/>
              </a:rPr>
              <a:t>little difference </a:t>
            </a:r>
            <a:r>
              <a:rPr lang="en-US" sz="1800" dirty="0">
                <a:cs typeface="Times New Roman" panose="02020603050405020304" pitchFamily="18" charset="0"/>
              </a:rPr>
              <a:t>between Business and Leisure segments in terms of </a:t>
            </a:r>
            <a:r>
              <a:rPr lang="en-US" sz="1800" b="1" dirty="0">
                <a:cs typeface="Times New Roman" panose="02020603050405020304" pitchFamily="18" charset="0"/>
              </a:rPr>
              <a:t>revenue</a:t>
            </a:r>
            <a:r>
              <a:rPr lang="en-US" sz="1800" dirty="0">
                <a:cs typeface="Times New Roman" panose="02020603050405020304" pitchFamily="18" charset="0"/>
              </a:rPr>
              <a:t> and preferred </a:t>
            </a:r>
            <a:r>
              <a:rPr lang="en-US" sz="1800" b="1" dirty="0">
                <a:cs typeface="Times New Roman" panose="02020603050405020304" pitchFamily="18" charset="0"/>
              </a:rPr>
              <a:t>booking channels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800" dirty="0">
                <a:cs typeface="Times New Roman" panose="02020603050405020304" pitchFamily="18" charset="0"/>
              </a:rPr>
              <a:t>Cost vs Profit by Country: 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800" b="1" dirty="0">
                <a:cs typeface="Times New Roman" panose="02020603050405020304" pitchFamily="18" charset="0"/>
              </a:rPr>
              <a:t>Singapore</a:t>
            </a:r>
            <a:r>
              <a:rPr lang="en-US" sz="1800" dirty="0">
                <a:cs typeface="Times New Roman" panose="02020603050405020304" pitchFamily="18" charset="0"/>
              </a:rPr>
              <a:t> incurs the </a:t>
            </a:r>
            <a:r>
              <a:rPr lang="en-US" sz="1800" b="1" dirty="0">
                <a:cs typeface="Times New Roman" panose="02020603050405020304" pitchFamily="18" charset="0"/>
              </a:rPr>
              <a:t>highest costs </a:t>
            </a:r>
            <a:r>
              <a:rPr lang="en-US" sz="1800" dirty="0">
                <a:cs typeface="Times New Roman" panose="02020603050405020304" pitchFamily="18" charset="0"/>
              </a:rPr>
              <a:t>but contributes </a:t>
            </a:r>
            <a:r>
              <a:rPr lang="en-US" sz="1800" b="1" dirty="0">
                <a:cs typeface="Times New Roman" panose="02020603050405020304" pitchFamily="18" charset="0"/>
              </a:rPr>
              <a:t>less to profit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800" b="1" dirty="0">
                <a:cs typeface="Times New Roman" panose="02020603050405020304" pitchFamily="18" charset="0"/>
              </a:rPr>
              <a:t>Korea</a:t>
            </a:r>
            <a:r>
              <a:rPr lang="en-US" sz="1800" dirty="0">
                <a:cs typeface="Times New Roman" panose="02020603050405020304" pitchFamily="18" charset="0"/>
              </a:rPr>
              <a:t> has the </a:t>
            </a:r>
            <a:r>
              <a:rPr lang="en-US" sz="1800" b="1" dirty="0">
                <a:cs typeface="Times New Roman" panose="02020603050405020304" pitchFamily="18" charset="0"/>
              </a:rPr>
              <a:t>lowest costs </a:t>
            </a:r>
            <a:r>
              <a:rPr lang="en-US" sz="1800" dirty="0">
                <a:cs typeface="Times New Roman" panose="02020603050405020304" pitchFamily="18" charset="0"/>
              </a:rPr>
              <a:t>but generates the </a:t>
            </a:r>
            <a:r>
              <a:rPr lang="en-US" sz="1800" b="1" dirty="0">
                <a:cs typeface="Times New Roman" panose="02020603050405020304" pitchFamily="18" charset="0"/>
              </a:rPr>
              <a:t>highest profit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800" dirty="0">
              <a:cs typeface="Times New Roman" panose="02020603050405020304" pitchFamily="18" charset="0"/>
            </a:endParaRPr>
          </a:p>
          <a:p>
            <a:pPr algn="l"/>
            <a:endParaRPr lang="en-US" sz="1800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EA2A-8186-4414-8819-2D67CE49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744" y="-198520"/>
            <a:ext cx="2201225" cy="140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9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AD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5DA54D-9C1D-469E-A8AD-6B16B1555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066" y="1309036"/>
            <a:ext cx="11893618" cy="542864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Suggestions: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900" dirty="0"/>
              <a:t>Target Marketing to Male Customers: </a:t>
            </a:r>
            <a:br>
              <a:rPr lang="en-US" sz="1900" dirty="0"/>
            </a:br>
            <a:r>
              <a:rPr lang="en-US" sz="1900" dirty="0"/>
              <a:t>Since male customers make more bookings, consider personalized campaign or promotions targeting this segment to </a:t>
            </a:r>
            <a:r>
              <a:rPr lang="en-US" sz="1900" b="1" dirty="0"/>
              <a:t>increase engagement and repeat bookings</a:t>
            </a:r>
            <a:r>
              <a:rPr lang="en-US" sz="1900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900" dirty="0"/>
              <a:t> Focus on High-Profit Markets:</a:t>
            </a:r>
          </a:p>
          <a:p>
            <a:pPr algn="l"/>
            <a:r>
              <a:rPr lang="en-US" sz="1900" dirty="0"/>
              <a:t>       Invest in marketing and operational support for Korea and Dubai to </a:t>
            </a:r>
            <a:r>
              <a:rPr lang="en-US" sz="1900" b="1" dirty="0"/>
              <a:t>maximize profits</a:t>
            </a:r>
            <a:r>
              <a:rPr lang="en-US" sz="1900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900" dirty="0"/>
              <a:t>Address Revenue Drops in December 2024:</a:t>
            </a:r>
          </a:p>
          <a:p>
            <a:pPr algn="l"/>
            <a:r>
              <a:rPr lang="en-US" sz="1900" dirty="0"/>
              <a:t>      To conduct a </a:t>
            </a:r>
            <a:r>
              <a:rPr lang="en-US" sz="1900" b="1" dirty="0"/>
              <a:t>deep-dive analysis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why Dec 2024 revenue dropped compared to Dec 2023 ( seasonal trends, marketing, </a:t>
            </a:r>
          </a:p>
          <a:p>
            <a:pPr algn="l"/>
            <a:r>
              <a:rPr lang="en-US" sz="1900" dirty="0"/>
              <a:t>      gaps, competition, </a:t>
            </a:r>
            <a:r>
              <a:rPr lang="en-US" sz="1900" dirty="0" err="1"/>
              <a:t>etc</a:t>
            </a:r>
            <a:r>
              <a:rPr lang="en-US" sz="1900" dirty="0"/>
              <a:t>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900" dirty="0"/>
              <a:t>Optimize Booking Channels:</a:t>
            </a:r>
          </a:p>
          <a:p>
            <a:pPr algn="l"/>
            <a:r>
              <a:rPr lang="en-US" sz="1900" dirty="0"/>
              <a:t>      Since Facebook is the most popular channel, consider </a:t>
            </a:r>
            <a:r>
              <a:rPr lang="en-US" sz="1900" b="1" dirty="0"/>
              <a:t>boosting</a:t>
            </a:r>
            <a:r>
              <a:rPr lang="en-US" sz="1900" dirty="0"/>
              <a:t> presence there with ads, special deals or retargeting                     </a:t>
            </a:r>
          </a:p>
          <a:p>
            <a:pPr algn="l"/>
            <a:r>
              <a:rPr lang="en-US" sz="1900" dirty="0"/>
              <a:t>      campaigns.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900" dirty="0"/>
              <a:t>Cost Management by County:</a:t>
            </a:r>
          </a:p>
          <a:p>
            <a:pPr algn="l"/>
            <a:r>
              <a:rPr lang="en-US" sz="1900" dirty="0"/>
              <a:t>      Review Singapore operations to identify ways to </a:t>
            </a:r>
            <a:r>
              <a:rPr lang="en-US" sz="1900" b="1" dirty="0"/>
              <a:t>reduce cost </a:t>
            </a:r>
            <a:r>
              <a:rPr lang="en-US" sz="1900" dirty="0"/>
              <a:t>without affecting service quality.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      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US" sz="1800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EA2A-8186-4414-8819-2D67CE49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744" y="-198520"/>
            <a:ext cx="2201225" cy="140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8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AD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5DA54D-9C1D-469E-A8AD-6B16B1555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5490" y="2550695"/>
            <a:ext cx="3686476" cy="952901"/>
          </a:xfrm>
        </p:spPr>
        <p:txBody>
          <a:bodyPr>
            <a:normAutofit/>
          </a:bodyPr>
          <a:lstStyle/>
          <a:p>
            <a:r>
              <a:rPr lang="en-US" sz="4800" b="1" dirty="0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EA2A-8186-4414-8819-2D67CE49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744" y="-198520"/>
            <a:ext cx="2201225" cy="140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08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</TotalTime>
  <Words>256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 Ei Phyu</dc:creator>
  <cp:lastModifiedBy>Pan Ei Phyu</cp:lastModifiedBy>
  <cp:revision>12</cp:revision>
  <dcterms:created xsi:type="dcterms:W3CDTF">2026-01-24T07:05:58Z</dcterms:created>
  <dcterms:modified xsi:type="dcterms:W3CDTF">2026-01-25T11:13:56Z</dcterms:modified>
</cp:coreProperties>
</file>